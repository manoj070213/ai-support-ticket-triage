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B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Refund</c:v>
                  </c:pt>
                  <c:pt idx="1">
                    <c:v>Technical</c:v>
                  </c:pt>
                  <c:pt idx="2">
                    <c:v>Cancellation</c:v>
                  </c:pt>
                  <c:pt idx="3">
                    <c:v>Product</c:v>
                  </c:pt>
                  <c:pt idx="4">
                    <c:v>Billing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1752</c:v>
                </c:pt>
                <c:pt idx="1">
                  <c:v>1747</c:v>
                </c:pt>
                <c:pt idx="2">
                  <c:v>1695</c:v>
                </c:pt>
                <c:pt idx="3">
                  <c:v>1641</c:v>
                </c:pt>
                <c:pt idx="4">
                  <c:v>1634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B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24B4A"/>
              </a:solidFill>
              <a:effectLst/>
            </c:spPr>
          </c:dPt>
          <c:dPt>
            <c:idx val="1"/>
            <c:bubble3D val="0"/>
            <c:spPr>
              <a:solidFill>
                <a:srgbClr val="EF9F27"/>
              </a:solidFill>
              <a:effectLst/>
            </c:spPr>
          </c:dPt>
          <c:dPt>
            <c:idx val="2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bubble3D val="0"/>
            <c:spPr>
              <a:solidFill>
                <a:srgbClr val="02C39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25</c:v>
                </c:pt>
                <c:pt idx="1">
                  <c:v>25</c:v>
                </c:pt>
                <c:pt idx="2">
                  <c:v>26</c:v>
                </c:pt>
                <c:pt idx="3">
                  <c:v>24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1A2B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371600"/>
            <a:ext cx="4114800" cy="41148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840480"/>
            <a:ext cx="3291840" cy="329184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91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 BUSINESS  ·  PROJECT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Support Ticket Triage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classifying, prioritizing, and summarizing customer support tickets with a large language 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Manoj  ·  BUAN 6399  ·  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11247120" cy="1828800"/>
          </a:xfrm>
          <a:prstGeom prst="rect">
            <a:avLst/>
          </a:prstGeom>
          <a:solidFill>
            <a:srgbClr val="F4F7F8"/>
          </a:solidFill>
          <a:ln w="12700">
            <a:solidFill>
              <a:srgbClr val="DDE6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920240"/>
            <a:ext cx="109728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40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Concept, business case, requirements, data needs, proposed architecture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977640"/>
            <a:ext cx="11247120" cy="1828800"/>
          </a:xfrm>
          <a:prstGeom prst="rect">
            <a:avLst/>
          </a:prstGeom>
          <a:solidFill>
            <a:srgbClr val="F4F7F8"/>
          </a:solidFill>
          <a:ln w="12700">
            <a:solidFill>
              <a:srgbClr val="DDE6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977640"/>
            <a:ext cx="109728" cy="18288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297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4892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stack, final architecture, data sources, results, lessons learned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 Ticket Triage  ·  BUAN 6399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85800" y="2971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&amp; Design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&amp; use case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— automated support ticket triage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 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/ consumer technology customer support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assistant that reads every incoming support ticket and instantly tags it by category, urgency, and customer sentiment, and writes a one-line summary for the agent.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9476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volume grows faster than support headcount.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 is slow, inconsistent, and error-prone.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expect fast routing of urgent issues.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0936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09360" y="379476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scope: classification, prioritization, sentiment, summaries, trend dashboard.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auto-replying to customers, live chat, CRM integration.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 Ticket Triage  ·  BUAN 6399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case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worth building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611880" cy="2743200"/>
          </a:xfrm>
          <a:prstGeom prst="rect">
            <a:avLst/>
          </a:prstGeom>
          <a:solidFill>
            <a:srgbClr val="F4F7F8"/>
          </a:solidFill>
          <a:ln w="12700">
            <a:solidFill>
              <a:srgbClr val="DDE6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3317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774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Save agent time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manual sorting, freeing agents to resolve issues faster.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51960" y="2011680"/>
            <a:ext cx="3611880" cy="2743200"/>
          </a:xfrm>
          <a:prstGeom prst="rect">
            <a:avLst/>
          </a:prstGeom>
          <a:solidFill>
            <a:srgbClr val="F4F7F8"/>
          </a:solidFill>
          <a:ln w="12700">
            <a:solidFill>
              <a:srgbClr val="DDE6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3317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3774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31546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 revenue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37033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churn-risk and high-urgency tickets before they escalate.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611880" cy="2743200"/>
          </a:xfrm>
          <a:prstGeom prst="rect">
            <a:avLst/>
          </a:prstGeom>
          <a:solidFill>
            <a:srgbClr val="F4F7F8"/>
          </a:solidFill>
          <a:ln w="12700">
            <a:solidFill>
              <a:srgbClr val="DDE6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3317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3774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66760" y="31546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Reveal insight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66760" y="37033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unstructured tickets into trends managers can act on.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 Ticket Triage  ·  BUAN 6399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Requirements &amp; data needs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Functional requirements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ticket into one of five issue categories.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 urgency level (high / medium / low).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sentiment (positive / neutral / negative).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one-line summary per ticket.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results into a visual dashboard.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needs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09360" y="224028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dataset of real customer support tickets with free-text descriptions.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Ideally existing human labels (type, priority) to benchmark accuracy.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Product/context fields to enrich each ticket.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personally identifiable customer data required.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 Ticket Triage  ·  BUAN 6399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solution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linear pipeline from raw ticket to insight.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2057400" cy="2103120"/>
          </a:xfrm>
          <a:prstGeom prst="roundRect">
            <a:avLst>
              <a:gd name="adj" fmla="val 4444"/>
            </a:avLst>
          </a:prstGeom>
          <a:solidFill>
            <a:srgbClr val="16455A"/>
          </a:solidFill>
          <a:ln/>
        </p:spPr>
      </p:sp>
      <p:sp>
        <p:nvSpPr>
          <p:cNvPr id="5" name="Shape 3"/>
          <p:cNvSpPr/>
          <p:nvPr/>
        </p:nvSpPr>
        <p:spPr>
          <a:xfrm>
            <a:off x="1207008" y="29718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3017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36576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41148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D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CSV 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35204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743200" y="2743200"/>
            <a:ext cx="2057400" cy="2103120"/>
          </a:xfrm>
          <a:prstGeom prst="roundRect">
            <a:avLst>
              <a:gd name="adj" fmla="val 4444"/>
            </a:avLst>
          </a:prstGeom>
          <a:solidFill>
            <a:srgbClr val="16455A"/>
          </a:solidFill>
          <a:ln/>
        </p:spPr>
      </p:sp>
      <p:sp>
        <p:nvSpPr>
          <p:cNvPr id="11" name="Shape 9"/>
          <p:cNvSpPr/>
          <p:nvPr/>
        </p:nvSpPr>
        <p:spPr>
          <a:xfrm>
            <a:off x="3493008" y="29718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3493008" y="3017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88920" y="36576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Pre-processing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88920" y="41148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D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prepare 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35204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029200" y="2743200"/>
            <a:ext cx="2057400" cy="2103120"/>
          </a:xfrm>
          <a:prstGeom prst="roundRect">
            <a:avLst>
              <a:gd name="adj" fmla="val 4444"/>
            </a:avLst>
          </a:prstGeom>
          <a:solidFill>
            <a:srgbClr val="16455A"/>
          </a:solidFill>
          <a:ln/>
        </p:spPr>
      </p:sp>
      <p:sp>
        <p:nvSpPr>
          <p:cNvPr id="17" name="Shape 15"/>
          <p:cNvSpPr/>
          <p:nvPr/>
        </p:nvSpPr>
        <p:spPr>
          <a:xfrm>
            <a:off x="5779008" y="29718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5779008" y="3017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74920" y="36576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classifier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74920" y="41148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D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+ summarize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40880" y="35204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315200" y="2743200"/>
            <a:ext cx="2057400" cy="2103120"/>
          </a:xfrm>
          <a:prstGeom prst="roundRect">
            <a:avLst>
              <a:gd name="adj" fmla="val 4444"/>
            </a:avLst>
          </a:prstGeom>
          <a:solidFill>
            <a:srgbClr val="16455A"/>
          </a:solidFill>
          <a:ln/>
        </p:spPr>
      </p:sp>
      <p:sp>
        <p:nvSpPr>
          <p:cNvPr id="23" name="Shape 21"/>
          <p:cNvSpPr/>
          <p:nvPr/>
        </p:nvSpPr>
        <p:spPr>
          <a:xfrm>
            <a:off x="8065008" y="29718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8065008" y="3017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60920" y="36576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store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360920" y="41148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D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CSV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26880" y="35204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601200" y="2743200"/>
            <a:ext cx="2057400" cy="2103120"/>
          </a:xfrm>
          <a:prstGeom prst="roundRect">
            <a:avLst>
              <a:gd name="adj" fmla="val 4444"/>
            </a:avLst>
          </a:prstGeom>
          <a:solidFill>
            <a:srgbClr val="16455A"/>
          </a:solidFill>
          <a:ln/>
        </p:spPr>
      </p:sp>
      <p:sp>
        <p:nvSpPr>
          <p:cNvPr id="29" name="Shape 27"/>
          <p:cNvSpPr/>
          <p:nvPr/>
        </p:nvSpPr>
        <p:spPr>
          <a:xfrm>
            <a:off x="10351008" y="29718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10351008" y="3017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46920" y="36576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646920" y="41148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D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insight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 Ticket Triage  ·  BUAN 6399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85800" y="2971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&amp; Results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used to build the working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611880" cy="1280160"/>
          </a:xfrm>
          <a:prstGeom prst="rect">
            <a:avLst/>
          </a:prstGeom>
          <a:solidFill>
            <a:srgbClr val="F4F7F8"/>
          </a:solidFill>
          <a:ln w="12700">
            <a:solidFill>
              <a:srgbClr val="DDE6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91440" cy="1280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9339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the pipeline scripts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1828800"/>
            <a:ext cx="3611880" cy="1280160"/>
          </a:xfrm>
          <a:prstGeom prst="rect">
            <a:avLst/>
          </a:prstGeom>
          <a:solidFill>
            <a:srgbClr val="F4F7F8"/>
          </a:solidFill>
          <a:ln w="12700">
            <a:solidFill>
              <a:srgbClr val="DDE6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0" y="1828800"/>
            <a:ext cx="91440" cy="1280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99339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Gemini API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24231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that classifies &amp; summarizes tickets (free tier)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611880" cy="1280160"/>
          </a:xfrm>
          <a:prstGeom prst="rect">
            <a:avLst/>
          </a:prstGeom>
          <a:solidFill>
            <a:srgbClr val="F4F7F8"/>
          </a:solidFill>
          <a:ln w="12700">
            <a:solidFill>
              <a:srgbClr val="DDE6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828800"/>
            <a:ext cx="91440" cy="1280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199339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/ urllib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0" y="24231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API calls, no heavy dependencies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3611880" cy="1280160"/>
          </a:xfrm>
          <a:prstGeom prst="rect">
            <a:avLst/>
          </a:prstGeom>
          <a:solidFill>
            <a:srgbClr val="F4F7F8"/>
          </a:solidFill>
          <a:ln w="12700">
            <a:solidFill>
              <a:srgbClr val="DDE6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46120"/>
            <a:ext cx="91440" cy="1280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107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CSV data layer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8404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portable storage of inputs &amp; outputs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51960" y="3246120"/>
            <a:ext cx="3611880" cy="1280160"/>
          </a:xfrm>
          <a:prstGeom prst="rect">
            <a:avLst/>
          </a:prstGeom>
          <a:solidFill>
            <a:srgbClr val="F4F7F8"/>
          </a:solidFill>
          <a:ln w="12700">
            <a:solidFill>
              <a:srgbClr val="DDE6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51960" y="3246120"/>
            <a:ext cx="91440" cy="1280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34107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Chart.js dashboard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26280" y="38404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visualization of results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46720" y="3246120"/>
            <a:ext cx="3611880" cy="1280160"/>
          </a:xfrm>
          <a:prstGeom prst="rect">
            <a:avLst/>
          </a:prstGeom>
          <a:solidFill>
            <a:srgbClr val="F4F7F8"/>
          </a:solidFill>
          <a:ln w="12700">
            <a:solidFill>
              <a:srgbClr val="DDE6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3246120"/>
            <a:ext cx="91440" cy="1280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8321040" y="34107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21040" y="38404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portfolio hosting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 Ticket Triage  ·  BUAN 6399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8,469 real customer support tickets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28800"/>
          <a:ext cx="7589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2011680"/>
            <a:ext cx="3383280" cy="1783080"/>
          </a:xfrm>
          <a:prstGeom prst="rect">
            <a:avLst/>
          </a:prstGeom>
          <a:solidFill>
            <a:srgbClr val="F4F7F8"/>
          </a:solidFill>
          <a:ln w="12700">
            <a:solidFill>
              <a:srgbClr val="DDE6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21040" y="22402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8,469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321040" y="3063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321040" y="4069080"/>
            <a:ext cx="3383280" cy="1783080"/>
          </a:xfrm>
          <a:prstGeom prst="rect">
            <a:avLst/>
          </a:prstGeom>
          <a:solidFill>
            <a:srgbClr val="F4F7F8"/>
          </a:solidFill>
          <a:ln w="12700">
            <a:solidFill>
              <a:srgbClr val="DD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21040" y="42976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Kaggle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321040" y="5074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 source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 Ticket Triage  ·  BUAN 6399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Results: what the AI found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AI-classified sample, with sentiment &amp; summaries the source never had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611880" cy="1645920"/>
          </a:xfrm>
          <a:prstGeom prst="rect">
            <a:avLst/>
          </a:prstGeom>
          <a:solidFill>
            <a:srgbClr val="0F2E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1168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43%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sentiment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51960" y="1828800"/>
            <a:ext cx="3611880" cy="1645920"/>
          </a:xfrm>
          <a:prstGeom prst="rect">
            <a:avLst/>
          </a:prstGeom>
          <a:solidFill>
            <a:srgbClr val="0F2E3D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201168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251960" y="29260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urgency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611880" cy="1645920"/>
          </a:xfrm>
          <a:prstGeom prst="rect">
            <a:avLst/>
          </a:prstGeom>
          <a:solidFill>
            <a:srgbClr val="0F2E3D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0" y="201168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046720" y="29260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auto-summarized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Priority mix across all tickets</a:t>
            </a:r>
            <a:endParaRPr lang="en-US" sz="16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365760" y="4114800"/>
          <a:ext cx="475488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585216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AI-written summaries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43600" y="4160520"/>
            <a:ext cx="5760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GoPro Hero — persistent issue despite troubleshooting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 XPS — not turning on or charging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Office — unresolved after multiple contacts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 Ticket Triage  ·  BUAN 6399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Lessons learned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7830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prompts are key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21945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Forcing the model to return strict JSON made outputs reliable and machine-readable.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07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880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 tiers have real limits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32918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 capped the sample size; production would need a paid tier or batching.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39776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is never clean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438912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dataset had placeholder text that needed fixing before analysis.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102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50749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secrets out of code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54864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belong in environment variables, not the codebase — especially for GitHub.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 Ticket Triage  ·  BUAN 6399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AI pipeline: from raw support tickets to structured, actionable insight.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Manoj  ·  BUAN 6399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Support Ticket Triage</dc:title>
  <dc:subject>PptxGenJS Presentation</dc:subject>
  <dc:creator>Manoj</dc:creator>
  <cp:lastModifiedBy>Manoj</cp:lastModifiedBy>
  <cp:revision>1</cp:revision>
  <dcterms:created xsi:type="dcterms:W3CDTF">2026-05-30T21:13:32Z</dcterms:created>
  <dcterms:modified xsi:type="dcterms:W3CDTF">2026-05-30T21:13:32Z</dcterms:modified>
</cp:coreProperties>
</file>